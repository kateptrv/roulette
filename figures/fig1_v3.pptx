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58"/>
  </p:normalViewPr>
  <p:slideViewPr>
    <p:cSldViewPr snapToGrid="0" showGuides="1">
      <p:cViewPr>
        <p:scale>
          <a:sx n="178" d="100"/>
          <a:sy n="178" d="100"/>
        </p:scale>
        <p:origin x="-6456" y="712"/>
      </p:cViewPr>
      <p:guideLst>
        <p:guide orient="horz" pos="5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48945"/>
            <a:ext cx="91440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40815"/>
            <a:ext cx="91440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03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9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83895"/>
            <a:ext cx="1051560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835785"/>
            <a:ext cx="1051560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49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30250"/>
            <a:ext cx="51816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730250"/>
            <a:ext cx="51816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3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6050"/>
            <a:ext cx="1051560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672465"/>
            <a:ext cx="5157787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002030"/>
            <a:ext cx="515778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72465"/>
            <a:ext cx="5183188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002030"/>
            <a:ext cx="5183188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5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6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6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82880"/>
            <a:ext cx="393223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94970"/>
            <a:ext cx="617220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22960"/>
            <a:ext cx="393223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4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82880"/>
            <a:ext cx="393223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94970"/>
            <a:ext cx="617220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22960"/>
            <a:ext cx="393223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88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7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46050"/>
            <a:ext cx="2628900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46050"/>
            <a:ext cx="7734300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46050"/>
            <a:ext cx="1051560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30250"/>
            <a:ext cx="1051560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542540"/>
            <a:ext cx="27432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AB2C6-F85D-5548-B07C-B62AE34AD0F5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542540"/>
            <a:ext cx="41148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542540"/>
            <a:ext cx="27432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3B31E-9798-F041-AF87-BEDC7D879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9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FB7F57-7D22-8739-8832-DA33E19136BA}"/>
              </a:ext>
            </a:extLst>
          </p:cNvPr>
          <p:cNvSpPr/>
          <p:nvPr/>
        </p:nvSpPr>
        <p:spPr>
          <a:xfrm>
            <a:off x="10231110" y="593394"/>
            <a:ext cx="1885940" cy="1884392"/>
          </a:xfrm>
          <a:prstGeom prst="roundRect">
            <a:avLst>
              <a:gd name="adj" fmla="val 3481"/>
            </a:avLst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8C048-8610-398A-528E-DA0AAE3FC659}"/>
              </a:ext>
            </a:extLst>
          </p:cNvPr>
          <p:cNvSpPr txBox="1"/>
          <p:nvPr/>
        </p:nvSpPr>
        <p:spPr>
          <a:xfrm>
            <a:off x="128861" y="129398"/>
            <a:ext cx="2480615" cy="379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8" b="1" dirty="0"/>
              <a:t>A. Study 1 (a and b)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F3B53B-B458-2D74-8F4F-6D47E2FCD49B}"/>
              </a:ext>
            </a:extLst>
          </p:cNvPr>
          <p:cNvSpPr/>
          <p:nvPr/>
        </p:nvSpPr>
        <p:spPr>
          <a:xfrm>
            <a:off x="1040727" y="2195833"/>
            <a:ext cx="230411" cy="211016"/>
          </a:xfrm>
          <a:prstGeom prst="roundRect">
            <a:avLst/>
          </a:prstGeom>
          <a:noFill/>
          <a:ln>
            <a:noFill/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7418AF-152C-1937-BB7E-E8B865506EF4}"/>
              </a:ext>
            </a:extLst>
          </p:cNvPr>
          <p:cNvGrpSpPr/>
          <p:nvPr/>
        </p:nvGrpSpPr>
        <p:grpSpPr>
          <a:xfrm>
            <a:off x="128859" y="605717"/>
            <a:ext cx="1854000" cy="1868447"/>
            <a:chOff x="442151" y="1"/>
            <a:chExt cx="2780997" cy="280267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703E982B-768A-C684-77D8-20DCADD44626}"/>
                </a:ext>
              </a:extLst>
            </p:cNvPr>
            <p:cNvSpPr/>
            <p:nvPr/>
          </p:nvSpPr>
          <p:spPr>
            <a:xfrm>
              <a:off x="442151" y="1"/>
              <a:ext cx="2780997" cy="2802670"/>
            </a:xfrm>
            <a:prstGeom prst="roundRect">
              <a:avLst>
                <a:gd name="adj" fmla="val 3850"/>
              </a:avLst>
            </a:prstGeom>
            <a:solidFill>
              <a:schemeClr val="bg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5BDA304-86C4-09C3-F8A2-DF9BCF3E6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405" b="10290"/>
            <a:stretch>
              <a:fillRect/>
            </a:stretch>
          </p:blipFill>
          <p:spPr>
            <a:xfrm>
              <a:off x="675714" y="581617"/>
              <a:ext cx="2287731" cy="2085867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F250CF6-6E2D-72EE-2922-47726CC0FEBF}"/>
                </a:ext>
              </a:extLst>
            </p:cNvPr>
            <p:cNvGrpSpPr/>
            <p:nvPr/>
          </p:nvGrpSpPr>
          <p:grpSpPr>
            <a:xfrm>
              <a:off x="675714" y="164506"/>
              <a:ext cx="2287729" cy="399710"/>
              <a:chOff x="749087" y="829406"/>
              <a:chExt cx="2149613" cy="399710"/>
            </a:xfrm>
            <a:solidFill>
              <a:schemeClr val="bg1"/>
            </a:solidFill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78BD532-14D3-18C0-EB8A-C147FBC4EBF4}"/>
                  </a:ext>
                </a:extLst>
              </p:cNvPr>
              <p:cNvSpPr/>
              <p:nvPr/>
            </p:nvSpPr>
            <p:spPr>
              <a:xfrm>
                <a:off x="749087" y="829406"/>
                <a:ext cx="2149613" cy="368177"/>
              </a:xfrm>
              <a:prstGeom prst="roundRect">
                <a:avLst/>
              </a:prstGeom>
              <a:grpFill/>
              <a:ln w="38100">
                <a:solidFill>
                  <a:srgbClr val="FF222B">
                    <a:alpha val="29020"/>
                  </a:srgbClr>
                </a:solidFill>
              </a:ln>
              <a:effectLst>
                <a:glow rad="101600">
                  <a:srgbClr val="FF222B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67">
                  <a:cs typeface="Consolas" panose="020B0609020204030204" pitchFamily="49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FEB296-94FE-22FF-8EFB-1DC26853BCA1}"/>
                  </a:ext>
                </a:extLst>
              </p:cNvPr>
              <p:cNvSpPr txBox="1"/>
              <p:nvPr/>
            </p:nvSpPr>
            <p:spPr>
              <a:xfrm>
                <a:off x="885015" y="844299"/>
                <a:ext cx="1591026" cy="384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67" dirty="0">
                    <a:cs typeface="Consolas" panose="020B0609020204030204" pitchFamily="49" charset="0"/>
                  </a:rPr>
                  <a:t>HOT:     </a:t>
                </a:r>
                <a:r>
                  <a:rPr lang="en-US" sz="1067" b="1" dirty="0">
                    <a:solidFill>
                      <a:srgbClr val="FF222B"/>
                    </a:solidFill>
                    <a:cs typeface="Consolas" panose="020B0609020204030204" pitchFamily="49" charset="0"/>
                  </a:rPr>
                  <a:t>9, 25, </a:t>
                </a:r>
                <a:r>
                  <a:rPr lang="en-US" sz="1067" b="1" dirty="0">
                    <a:cs typeface="Consolas" panose="020B0609020204030204" pitchFamily="49" charset="0"/>
                  </a:rPr>
                  <a:t>35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0AA870-30DD-1880-D212-4B2AE8626543}"/>
                </a:ext>
              </a:extLst>
            </p:cNvPr>
            <p:cNvSpPr/>
            <p:nvPr/>
          </p:nvSpPr>
          <p:spPr>
            <a:xfrm>
              <a:off x="820376" y="1972030"/>
              <a:ext cx="293393" cy="277845"/>
            </a:xfrm>
            <a:prstGeom prst="rect">
              <a:avLst/>
            </a:prstGeom>
            <a:noFill/>
            <a:ln>
              <a:solidFill>
                <a:srgbClr val="FF222B">
                  <a:alpha val="5882"/>
                </a:srgbClr>
              </a:solidFill>
            </a:ln>
            <a:effectLst>
              <a:glow rad="63500">
                <a:srgbClr val="FF222B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DFF6DCD-9654-B19C-812B-57C4FD66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138155">
              <a:off x="993882" y="2171404"/>
              <a:ext cx="262969" cy="244827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1AFBE50-35E2-D84A-48C3-22D16B4D4D59}"/>
              </a:ext>
            </a:extLst>
          </p:cNvPr>
          <p:cNvSpPr txBox="1"/>
          <p:nvPr/>
        </p:nvSpPr>
        <p:spPr>
          <a:xfrm>
            <a:off x="5378856" y="148463"/>
            <a:ext cx="2109711" cy="379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8" b="1" dirty="0"/>
              <a:t>B. Study 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94D05A-D4C0-33B3-49FB-D227DA351FA9}"/>
              </a:ext>
            </a:extLst>
          </p:cNvPr>
          <p:cNvGrpSpPr/>
          <p:nvPr/>
        </p:nvGrpSpPr>
        <p:grpSpPr>
          <a:xfrm>
            <a:off x="5378856" y="594078"/>
            <a:ext cx="1853999" cy="1868447"/>
            <a:chOff x="5029735" y="635408"/>
            <a:chExt cx="2780998" cy="2802670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B644B128-707C-5F51-D925-D938801A061C}"/>
                </a:ext>
              </a:extLst>
            </p:cNvPr>
            <p:cNvSpPr/>
            <p:nvPr/>
          </p:nvSpPr>
          <p:spPr>
            <a:xfrm>
              <a:off x="5029735" y="635408"/>
              <a:ext cx="2780998" cy="2802670"/>
            </a:xfrm>
            <a:prstGeom prst="roundRect">
              <a:avLst>
                <a:gd name="adj" fmla="val 3850"/>
              </a:avLst>
            </a:prstGeom>
            <a:solidFill>
              <a:schemeClr val="bg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FD9E584-78FB-594A-128B-AD2DCAD05C00}"/>
                </a:ext>
              </a:extLst>
            </p:cNvPr>
            <p:cNvGrpSpPr/>
            <p:nvPr/>
          </p:nvGrpSpPr>
          <p:grpSpPr>
            <a:xfrm>
              <a:off x="5373623" y="757677"/>
              <a:ext cx="2067075" cy="2576431"/>
              <a:chOff x="5073399" y="913144"/>
              <a:chExt cx="2127445" cy="265167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C8E4BFA-00D7-B27C-1EFF-39E56CB80DA6}"/>
                  </a:ext>
                </a:extLst>
              </p:cNvPr>
              <p:cNvSpPr/>
              <p:nvPr/>
            </p:nvSpPr>
            <p:spPr>
              <a:xfrm>
                <a:off x="5073416" y="913144"/>
                <a:ext cx="2127428" cy="6147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FFBBBC81-CF44-58E9-1AE0-8EDFDBA9EA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188" t="8446" r="2569" b="8339"/>
              <a:stretch>
                <a:fillRect/>
              </a:stretch>
            </p:blipFill>
            <p:spPr>
              <a:xfrm>
                <a:off x="5073399" y="1401337"/>
                <a:ext cx="2127428" cy="2163485"/>
              </a:xfrm>
              <a:prstGeom prst="rect">
                <a:avLst/>
              </a:prstGeom>
            </p:spPr>
          </p:pic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CAB33C1-394D-EB71-151D-745BBF9CDD9B}"/>
                </a:ext>
              </a:extLst>
            </p:cNvPr>
            <p:cNvSpPr/>
            <p:nvPr/>
          </p:nvSpPr>
          <p:spPr>
            <a:xfrm>
              <a:off x="6718362" y="1978787"/>
              <a:ext cx="339975" cy="277845"/>
            </a:xfrm>
            <a:prstGeom prst="rect">
              <a:avLst/>
            </a:prstGeom>
            <a:noFill/>
            <a:ln>
              <a:solidFill>
                <a:srgbClr val="FF222B">
                  <a:alpha val="5882"/>
                </a:srgbClr>
              </a:solidFill>
            </a:ln>
            <a:effectLst>
              <a:glow rad="63500">
                <a:srgbClr val="FF222B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0D68947-3846-B8F2-9D72-38C579CE2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138155">
              <a:off x="6903561" y="2162188"/>
              <a:ext cx="262969" cy="24482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0E151FD-02E0-C318-10B2-4A62728B33A1}"/>
                </a:ext>
              </a:extLst>
            </p:cNvPr>
            <p:cNvSpPr txBox="1"/>
            <p:nvPr/>
          </p:nvSpPr>
          <p:spPr>
            <a:xfrm>
              <a:off x="5491688" y="757677"/>
              <a:ext cx="183092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cs typeface="Consolas" panose="020B0609020204030204" pitchFamily="49" charset="0"/>
                </a:rPr>
                <a:t>Choose </a:t>
              </a:r>
              <a:r>
                <a:rPr lang="en-US" sz="1200" b="1" dirty="0">
                  <a:cs typeface="Consolas" panose="020B0609020204030204" pitchFamily="49" charset="0"/>
                </a:rPr>
                <a:t>3 </a:t>
              </a:r>
              <a:r>
                <a:rPr lang="en-US" sz="1200" dirty="0">
                  <a:cs typeface="Consolas" panose="020B0609020204030204" pitchFamily="49" charset="0"/>
                </a:rPr>
                <a:t>blocks to consider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906CE1-9A28-B8B8-70A5-D498D884BBC6}"/>
              </a:ext>
            </a:extLst>
          </p:cNvPr>
          <p:cNvGrpSpPr/>
          <p:nvPr/>
        </p:nvGrpSpPr>
        <p:grpSpPr>
          <a:xfrm>
            <a:off x="7325047" y="593397"/>
            <a:ext cx="1853997" cy="1868447"/>
            <a:chOff x="4590469" y="3484035"/>
            <a:chExt cx="2780996" cy="280267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58FD5559-D406-EF4B-092D-FC86EC44EC82}"/>
                </a:ext>
              </a:extLst>
            </p:cNvPr>
            <p:cNvSpPr/>
            <p:nvPr/>
          </p:nvSpPr>
          <p:spPr>
            <a:xfrm>
              <a:off x="4590469" y="3484035"/>
              <a:ext cx="2780996" cy="2802670"/>
            </a:xfrm>
            <a:prstGeom prst="roundRect">
              <a:avLst>
                <a:gd name="adj" fmla="val 3850"/>
              </a:avLst>
            </a:prstGeom>
            <a:solidFill>
              <a:schemeClr val="bg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B205D30-9F42-BB50-44CF-29E512881BA6}"/>
                </a:ext>
              </a:extLst>
            </p:cNvPr>
            <p:cNvGrpSpPr/>
            <p:nvPr/>
          </p:nvGrpSpPr>
          <p:grpSpPr>
            <a:xfrm>
              <a:off x="4916096" y="4095268"/>
              <a:ext cx="2063457" cy="2099188"/>
              <a:chOff x="5002650" y="4445611"/>
              <a:chExt cx="2063457" cy="2099188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52A56726-D0BD-37C6-77B3-78344FDDD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2650" y="4445611"/>
                <a:ext cx="2063457" cy="2099188"/>
              </a:xfrm>
              <a:prstGeom prst="rect">
                <a:avLst/>
              </a:prstGeom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9592452-F70C-8C3D-187C-59DFD61F6B85}"/>
                  </a:ext>
                </a:extLst>
              </p:cNvPr>
              <p:cNvSpPr/>
              <p:nvPr/>
            </p:nvSpPr>
            <p:spPr>
              <a:xfrm>
                <a:off x="5694403" y="4846533"/>
                <a:ext cx="339975" cy="277845"/>
              </a:xfrm>
              <a:prstGeom prst="rect">
                <a:avLst/>
              </a:prstGeom>
              <a:noFill/>
              <a:ln>
                <a:solidFill>
                  <a:srgbClr val="FF222B">
                    <a:alpha val="5882"/>
                  </a:srgbClr>
                </a:solidFill>
              </a:ln>
              <a:effectLst>
                <a:glow rad="63500">
                  <a:srgbClr val="FF222B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pic>
            <p:nvPicPr>
              <p:cNvPr id="31" name="Picture 2">
                <a:extLst>
                  <a:ext uri="{FF2B5EF4-FFF2-40B4-BE49-F238E27FC236}">
                    <a16:creationId xmlns:a16="http://schemas.microsoft.com/office/drawing/2014/main" id="{4D8624E1-BF85-F0E6-E977-D405F34B10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22699" y="4961965"/>
                <a:ext cx="459029" cy="4590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CC8633-6D73-E3E3-9B0D-20BDB54EBF82}"/>
                </a:ext>
              </a:extLst>
            </p:cNvPr>
            <p:cNvSpPr/>
            <p:nvPr/>
          </p:nvSpPr>
          <p:spPr>
            <a:xfrm>
              <a:off x="4912493" y="3596213"/>
              <a:ext cx="2067058" cy="541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8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FA09CF-EFEC-2150-A5C4-B1EC6CCD10D4}"/>
                </a:ext>
              </a:extLst>
            </p:cNvPr>
            <p:cNvSpPr txBox="1"/>
            <p:nvPr/>
          </p:nvSpPr>
          <p:spPr>
            <a:xfrm>
              <a:off x="5034277" y="3620428"/>
              <a:ext cx="182349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cs typeface="Consolas" panose="020B0609020204030204" pitchFamily="49" charset="0"/>
                </a:rPr>
                <a:t>Choose 1 block to mine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B2C8FE37-A189-14EE-05D4-8B4CAAAA1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38155">
            <a:off x="11374470" y="1402382"/>
            <a:ext cx="175313" cy="16321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B64CA57-6C4F-5A7A-6AEC-4B3B21F58EF2}"/>
              </a:ext>
            </a:extLst>
          </p:cNvPr>
          <p:cNvGrpSpPr/>
          <p:nvPr/>
        </p:nvGrpSpPr>
        <p:grpSpPr>
          <a:xfrm>
            <a:off x="2088772" y="606055"/>
            <a:ext cx="805953" cy="1868106"/>
            <a:chOff x="4379813" y="549086"/>
            <a:chExt cx="1208930" cy="2802159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560F3521-C3DD-1CA5-A494-0BDF92E9ACD7}"/>
                </a:ext>
              </a:extLst>
            </p:cNvPr>
            <p:cNvSpPr/>
            <p:nvPr/>
          </p:nvSpPr>
          <p:spPr>
            <a:xfrm>
              <a:off x="4379813" y="549086"/>
              <a:ext cx="1208930" cy="2802159"/>
            </a:xfrm>
            <a:prstGeom prst="roundRect">
              <a:avLst>
                <a:gd name="adj" fmla="val 5273"/>
              </a:avLst>
            </a:prstGeom>
            <a:solidFill>
              <a:schemeClr val="bg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5BCE4C2-E9AD-E982-1A45-3A21276CF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701073" y="2466596"/>
              <a:ext cx="663705" cy="66370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C92A1A9-1BAC-6868-7CDB-C9E5F31E8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94244" y="1038095"/>
              <a:ext cx="663705" cy="663705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F9835F-08AB-04C0-E26D-311D52378898}"/>
                </a:ext>
              </a:extLst>
            </p:cNvPr>
            <p:cNvSpPr txBox="1"/>
            <p:nvPr/>
          </p:nvSpPr>
          <p:spPr>
            <a:xfrm>
              <a:off x="4493920" y="2087863"/>
              <a:ext cx="1047704" cy="415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ysClr val="windowText" lastClr="000000"/>
                  </a:solidFill>
                  <a:cs typeface="Consolas" panose="020B0609020204030204" pitchFamily="49" charset="0"/>
                </a:rPr>
                <a:t>Win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C6FEB79-112E-5630-17B4-A2F3B7D06527}"/>
                </a:ext>
              </a:extLst>
            </p:cNvPr>
            <p:cNvSpPr txBox="1"/>
            <p:nvPr/>
          </p:nvSpPr>
          <p:spPr>
            <a:xfrm>
              <a:off x="4518103" y="652566"/>
              <a:ext cx="913613" cy="415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cs typeface="Consolas" panose="020B0609020204030204" pitchFamily="49" charset="0"/>
                </a:rPr>
                <a:t>Loss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0A69C45A-09A8-5BE0-2DF4-7CE2092E5983}"/>
              </a:ext>
            </a:extLst>
          </p:cNvPr>
          <p:cNvSpPr txBox="1"/>
          <p:nvPr/>
        </p:nvSpPr>
        <p:spPr>
          <a:xfrm>
            <a:off x="10418759" y="747815"/>
            <a:ext cx="150761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cs typeface="Consolas" panose="020B0609020204030204" pitchFamily="49" charset="0"/>
              </a:rPr>
              <a:t>How much do you regret </a:t>
            </a:r>
            <a:r>
              <a:rPr lang="en-US" sz="1200" b="1" dirty="0">
                <a:cs typeface="Consolas" panose="020B0609020204030204" pitchFamily="49" charset="0"/>
              </a:rPr>
              <a:t>choosing</a:t>
            </a:r>
            <a:r>
              <a:rPr lang="en-US" sz="1200" dirty="0">
                <a:cs typeface="Consolas" panose="020B0609020204030204" pitchFamily="49" charset="0"/>
              </a:rPr>
              <a:t> 9?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719C8A-2595-8B48-AF53-A21AA8F2D523}"/>
              </a:ext>
            </a:extLst>
          </p:cNvPr>
          <p:cNvSpPr txBox="1"/>
          <p:nvPr/>
        </p:nvSpPr>
        <p:spPr>
          <a:xfrm>
            <a:off x="10408644" y="1694326"/>
            <a:ext cx="166407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cs typeface="Consolas" panose="020B0609020204030204" pitchFamily="49" charset="0"/>
              </a:rPr>
              <a:t>How much do you regret </a:t>
            </a:r>
            <a:r>
              <a:rPr lang="en-US" sz="1200" b="1" dirty="0">
                <a:cs typeface="Consolas" panose="020B0609020204030204" pitchFamily="49" charset="0"/>
              </a:rPr>
              <a:t>NOT </a:t>
            </a:r>
            <a:r>
              <a:rPr lang="en-US" sz="1200" b="1">
                <a:cs typeface="Consolas" panose="020B0609020204030204" pitchFamily="49" charset="0"/>
              </a:rPr>
              <a:t>choosing 2</a:t>
            </a:r>
            <a:r>
              <a:rPr lang="en-US" sz="1200" b="1" dirty="0">
                <a:cs typeface="Consolas" panose="020B0609020204030204" pitchFamily="49" charset="0"/>
              </a:rPr>
              <a:t>1</a:t>
            </a:r>
            <a:r>
              <a:rPr lang="en-US" sz="1200">
                <a:cs typeface="Consolas" panose="020B0609020204030204" pitchFamily="49" charset="0"/>
              </a:rPr>
              <a:t>?</a:t>
            </a:r>
            <a:endParaRPr lang="en-US" sz="1200" dirty="0">
              <a:cs typeface="Consolas" panose="020B0609020204030204" pitchFamily="49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8074AB0-648A-0B97-F01B-E853DE408AE7}"/>
              </a:ext>
            </a:extLst>
          </p:cNvPr>
          <p:cNvGrpSpPr/>
          <p:nvPr/>
        </p:nvGrpSpPr>
        <p:grpSpPr>
          <a:xfrm>
            <a:off x="10538248" y="1276779"/>
            <a:ext cx="1268628" cy="114596"/>
            <a:chOff x="8874771" y="5056236"/>
            <a:chExt cx="1902942" cy="171894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2E385B0-01DC-3C63-AE56-E78F0765A8D6}"/>
                </a:ext>
              </a:extLst>
            </p:cNvPr>
            <p:cNvCxnSpPr/>
            <p:nvPr/>
          </p:nvCxnSpPr>
          <p:spPr>
            <a:xfrm>
              <a:off x="8874771" y="5133453"/>
              <a:ext cx="190294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CD180C7-FADF-B056-9EBC-E8B74504025D}"/>
                </a:ext>
              </a:extLst>
            </p:cNvPr>
            <p:cNvSpPr/>
            <p:nvPr/>
          </p:nvSpPr>
          <p:spPr>
            <a:xfrm>
              <a:off x="9964030" y="5056236"/>
              <a:ext cx="177819" cy="17189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227B8C4-18E5-D2D9-5838-B5235BDD0321}"/>
              </a:ext>
            </a:extLst>
          </p:cNvPr>
          <p:cNvGrpSpPr/>
          <p:nvPr/>
        </p:nvGrpSpPr>
        <p:grpSpPr>
          <a:xfrm>
            <a:off x="10545620" y="2258466"/>
            <a:ext cx="1268628" cy="114596"/>
            <a:chOff x="8874771" y="5046934"/>
            <a:chExt cx="1902942" cy="171894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4F5B227-B2B2-B095-C030-909593E6195A}"/>
                </a:ext>
              </a:extLst>
            </p:cNvPr>
            <p:cNvCxnSpPr/>
            <p:nvPr/>
          </p:nvCxnSpPr>
          <p:spPr>
            <a:xfrm>
              <a:off x="8874771" y="5133453"/>
              <a:ext cx="190294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9D6B4AE-6A52-CAD8-3876-3C98758AFE85}"/>
                </a:ext>
              </a:extLst>
            </p:cNvPr>
            <p:cNvSpPr/>
            <p:nvPr/>
          </p:nvSpPr>
          <p:spPr>
            <a:xfrm>
              <a:off x="9189808" y="5046934"/>
              <a:ext cx="177819" cy="17189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327984-D762-9005-1BF4-5FB59D91D650}"/>
              </a:ext>
            </a:extLst>
          </p:cNvPr>
          <p:cNvGrpSpPr/>
          <p:nvPr/>
        </p:nvGrpSpPr>
        <p:grpSpPr>
          <a:xfrm>
            <a:off x="3024490" y="602442"/>
            <a:ext cx="1885452" cy="1884392"/>
            <a:chOff x="7149179" y="5206477"/>
            <a:chExt cx="2828178" cy="2826587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34510ABD-8918-3EA0-BBA9-620EB4760723}"/>
                </a:ext>
              </a:extLst>
            </p:cNvPr>
            <p:cNvSpPr/>
            <p:nvPr/>
          </p:nvSpPr>
          <p:spPr>
            <a:xfrm>
              <a:off x="7149179" y="5206477"/>
              <a:ext cx="2828178" cy="2826587"/>
            </a:xfrm>
            <a:prstGeom prst="roundRect">
              <a:avLst>
                <a:gd name="adj" fmla="val 3481"/>
              </a:avLst>
            </a:prstGeom>
            <a:solidFill>
              <a:schemeClr val="bg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8A53E66-1DC6-A43F-7113-D0E137FB1482}"/>
                </a:ext>
              </a:extLst>
            </p:cNvPr>
            <p:cNvSpPr txBox="1"/>
            <p:nvPr/>
          </p:nvSpPr>
          <p:spPr>
            <a:xfrm>
              <a:off x="7433174" y="5395855"/>
              <a:ext cx="226142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cs typeface="Consolas" panose="020B0609020204030204" pitchFamily="49" charset="0"/>
                </a:rPr>
                <a:t>How much do you regret </a:t>
              </a:r>
              <a:r>
                <a:rPr lang="en-US" sz="1200" b="1" dirty="0">
                  <a:cs typeface="Consolas" panose="020B0609020204030204" pitchFamily="49" charset="0"/>
                </a:rPr>
                <a:t>choosing</a:t>
              </a:r>
              <a:r>
                <a:rPr lang="en-US" sz="1200" dirty="0">
                  <a:cs typeface="Consolas" panose="020B0609020204030204" pitchFamily="49" charset="0"/>
                </a:rPr>
                <a:t> 25?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610542-BBF4-149A-E121-4A9229FDFB08}"/>
                </a:ext>
              </a:extLst>
            </p:cNvPr>
            <p:cNvSpPr txBox="1"/>
            <p:nvPr/>
          </p:nvSpPr>
          <p:spPr>
            <a:xfrm>
              <a:off x="7315828" y="6612925"/>
              <a:ext cx="2496116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cs typeface="Consolas" panose="020B0609020204030204" pitchFamily="49" charset="0"/>
                </a:rPr>
                <a:t>How much do you regret </a:t>
              </a:r>
              <a:r>
                <a:rPr lang="en-US" sz="1200" b="1" dirty="0">
                  <a:cs typeface="Consolas" panose="020B0609020204030204" pitchFamily="49" charset="0"/>
                </a:rPr>
                <a:t>NOT choosing 9</a:t>
              </a:r>
              <a:r>
                <a:rPr lang="en-US" sz="1200" dirty="0">
                  <a:cs typeface="Consolas" panose="020B0609020204030204" pitchFamily="49" charset="0"/>
                </a:rPr>
                <a:t>?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294B47B-4C2F-6658-12B2-D83DE4C2EAD3}"/>
                </a:ext>
              </a:extLst>
            </p:cNvPr>
            <p:cNvGrpSpPr/>
            <p:nvPr/>
          </p:nvGrpSpPr>
          <p:grpSpPr>
            <a:xfrm>
              <a:off x="7689867" y="6216466"/>
              <a:ext cx="1902942" cy="171894"/>
              <a:chOff x="8874771" y="5047397"/>
              <a:chExt cx="1902942" cy="171894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8941EF2E-3A6B-7B96-D8FD-4B4264C6E1C0}"/>
                  </a:ext>
                </a:extLst>
              </p:cNvPr>
              <p:cNvCxnSpPr/>
              <p:nvPr/>
            </p:nvCxnSpPr>
            <p:spPr>
              <a:xfrm>
                <a:off x="8874771" y="5133453"/>
                <a:ext cx="190294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794F5828-C9B5-25CA-9655-04ACD7C09475}"/>
                  </a:ext>
                </a:extLst>
              </p:cNvPr>
              <p:cNvSpPr/>
              <p:nvPr/>
            </p:nvSpPr>
            <p:spPr>
              <a:xfrm>
                <a:off x="10030725" y="5047397"/>
                <a:ext cx="177819" cy="17189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0442C35-6AC4-A3D4-215A-399D6A1BCE7F}"/>
                </a:ext>
              </a:extLst>
            </p:cNvPr>
            <p:cNvGrpSpPr/>
            <p:nvPr/>
          </p:nvGrpSpPr>
          <p:grpSpPr>
            <a:xfrm>
              <a:off x="7689867" y="7468881"/>
              <a:ext cx="1902942" cy="171894"/>
              <a:chOff x="8874771" y="5046934"/>
              <a:chExt cx="1902942" cy="1718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3320DF0-3580-4D8B-938C-6A6DF235F775}"/>
                  </a:ext>
                </a:extLst>
              </p:cNvPr>
              <p:cNvCxnSpPr/>
              <p:nvPr/>
            </p:nvCxnSpPr>
            <p:spPr>
              <a:xfrm>
                <a:off x="8874771" y="5133453"/>
                <a:ext cx="190294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1978A86-D154-1CFB-C73A-1901CA1F7C1D}"/>
                  </a:ext>
                </a:extLst>
              </p:cNvPr>
              <p:cNvSpPr/>
              <p:nvPr/>
            </p:nvSpPr>
            <p:spPr>
              <a:xfrm>
                <a:off x="10432451" y="5046934"/>
                <a:ext cx="177819" cy="17189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95120B1D-A08D-0774-7B51-73AF1FE6A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138155">
              <a:off x="9440577" y="7682546"/>
              <a:ext cx="262969" cy="244827"/>
            </a:xfrm>
            <a:prstGeom prst="rect">
              <a:avLst/>
            </a:prstGeom>
          </p:spPr>
        </p:pic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B5AE5E8-967C-3845-347E-4F7EEE86EBCD}"/>
              </a:ext>
            </a:extLst>
          </p:cNvPr>
          <p:cNvSpPr/>
          <p:nvPr/>
        </p:nvSpPr>
        <p:spPr>
          <a:xfrm>
            <a:off x="9291151" y="606055"/>
            <a:ext cx="805953" cy="1868106"/>
          </a:xfrm>
          <a:prstGeom prst="roundRect">
            <a:avLst>
              <a:gd name="adj" fmla="val 5273"/>
            </a:avLst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71033D-80D8-098A-4FAC-94F9E7AAC5EB}"/>
              </a:ext>
            </a:extLst>
          </p:cNvPr>
          <p:cNvSpPr txBox="1"/>
          <p:nvPr/>
        </p:nvSpPr>
        <p:spPr>
          <a:xfrm>
            <a:off x="9367223" y="1631909"/>
            <a:ext cx="698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ysClr val="windowText" lastClr="000000"/>
                </a:solidFill>
                <a:cs typeface="Consolas" panose="020B0609020204030204" pitchFamily="49" charset="0"/>
              </a:rPr>
              <a:t>Win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06F02C-107D-3FDF-E8CF-D0E14967B052}"/>
              </a:ext>
            </a:extLst>
          </p:cNvPr>
          <p:cNvSpPr txBox="1"/>
          <p:nvPr/>
        </p:nvSpPr>
        <p:spPr>
          <a:xfrm>
            <a:off x="9383345" y="675044"/>
            <a:ext cx="609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Consolas" panose="020B0609020204030204" pitchFamily="49" charset="0"/>
              </a:rPr>
              <a:t>Loss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E8C56E9C-B6BD-26FA-97C6-47CFD936BB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4154" y="961765"/>
            <a:ext cx="423870" cy="42387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3DF35F7-467E-745D-1BD4-D2FB4F8CE4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1641" y="1930209"/>
            <a:ext cx="449631" cy="449631"/>
          </a:xfrm>
          <a:prstGeom prst="rect">
            <a:avLst/>
          </a:prstGeom>
        </p:spPr>
      </p:pic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61C43C5-083C-E35A-342C-1F843010B3C2}"/>
              </a:ext>
            </a:extLst>
          </p:cNvPr>
          <p:cNvSpPr/>
          <p:nvPr/>
        </p:nvSpPr>
        <p:spPr>
          <a:xfrm>
            <a:off x="9350149" y="686825"/>
            <a:ext cx="687954" cy="769931"/>
          </a:xfrm>
          <a:prstGeom prst="roundRect">
            <a:avLst/>
          </a:prstGeom>
          <a:noFill/>
          <a:ln w="38100">
            <a:solidFill>
              <a:srgbClr val="B53E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5230D0ED-1B73-201C-921D-36F66380B9F2}"/>
              </a:ext>
            </a:extLst>
          </p:cNvPr>
          <p:cNvSpPr/>
          <p:nvPr/>
        </p:nvSpPr>
        <p:spPr>
          <a:xfrm>
            <a:off x="2142856" y="680505"/>
            <a:ext cx="687954" cy="769931"/>
          </a:xfrm>
          <a:prstGeom prst="roundRect">
            <a:avLst/>
          </a:prstGeom>
          <a:noFill/>
          <a:ln w="38100">
            <a:solidFill>
              <a:srgbClr val="B53E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5538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68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 Petrova</dc:creator>
  <cp:lastModifiedBy>Kate Petrova</cp:lastModifiedBy>
  <cp:revision>2</cp:revision>
  <dcterms:created xsi:type="dcterms:W3CDTF">2026-02-03T05:33:10Z</dcterms:created>
  <dcterms:modified xsi:type="dcterms:W3CDTF">2026-05-08T18:32:30Z</dcterms:modified>
</cp:coreProperties>
</file>